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Open Sans" panose="020B0606030504020204" pitchFamily="34" charset="0"/>
      <p:regular r:id="rId19"/>
      <p:bold r:id="rId20"/>
    </p:embeddedFont>
    <p:embeddedFont>
      <p:font typeface="Open Sans Bold" panose="020B0806030504020204" charset="0"/>
      <p:regular r:id="rId21"/>
    </p:embeddedFont>
    <p:embeddedFont>
      <p:font typeface="Unbounded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344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D9F6-82BF-B880-E33A-D3BFC86EE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EA840-80DC-02CB-6081-3BD2EE91B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E7428-EF0F-586A-3876-5F6C801E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2EE66-5573-C950-B36E-039A0FA7C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839DC-FF2A-B0FC-34B7-1763DC59C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5141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91AC-E33E-E5A5-3B22-0CBFA8CF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09A2-6E01-1EC4-A1BA-7CCFF5D84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B4E9D-9CFA-377F-511C-D8E8D9C9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D36E5-A5BA-86D4-200D-6CAEB6784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1FA57-54C2-B3F2-E4BD-3D132304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63490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EDBF-1BA8-BBBA-383E-E8EA91617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7A9B-9B6F-C6D5-9617-00ABF7002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EE906-F349-E385-8A69-8E5B3808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82BE-D1B4-765D-AF04-FFE3A5D7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FE0CF-955F-E0D5-5433-76E108D2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9086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F38C-80FE-905D-ACE0-653D4C47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CD6CE-5265-3959-E6A4-54B430CF3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09F90-2BF8-1BCC-7BD5-A33A705F4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9281C-2695-F028-C168-A4D02AE1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98FB3-2390-8DC0-8E79-BA4B4AD2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8F54B-B799-78F3-2B6F-B207F7010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4291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7AD7-9C9C-2F84-F432-E6179259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AE6FB-AF49-A752-45D1-128F0B58A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A24CA-6CAD-CF2E-A2F9-09CC37BB8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98F082-81F2-25C0-75C9-AE316693E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0C8656-52EC-4C66-8750-85DA54384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2DC484-3D1D-B663-C6D1-6B9B91C0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C313B-F36F-0BBB-B4D8-E9768979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2CD8D-CEAF-CDD5-9ACC-98FC2C2D7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4893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E661-66CD-FBC3-5FEE-F0B7F154C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8D6C0-D3B6-1158-B31B-B4BAD0E9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7ECBE-D072-580D-40F5-3C8EE0AB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CDBCC-C164-0B31-6884-2C1F8861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5008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E87F4-4C0E-2E03-6DE5-1698F5E80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390EC-A909-EEE2-CD4C-7271E316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5550B-46EB-D8D3-31F4-5B08A0B2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2913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48CD-622B-5128-D006-4E2BC3F6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354A-5AC4-C132-9330-9B80ADF47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E2659-BBD5-D1AB-DEA6-976B8BE79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D859B-26DF-9E83-1FB2-4D875DEB2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AE3C3-E190-59C3-1EE3-51FE582CE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7A913-181A-50A9-080F-BAD2441D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292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1CD0-A0AA-6553-B603-5A70744C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1B9B9F-8D3A-DFE4-075E-56F4821FCD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2CBEE-A310-77C4-2FD9-978DA668A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69C0E-E5B3-DEB1-C6CF-C073DF7E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4D1AC-9C07-D6C5-1F0A-2B699382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A196A-FF0F-4742-6FB1-620FD95E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9203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D71D-9237-361E-E246-5AD21606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2A887-2C6F-9A1B-9347-183BD0891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EB43F-ED1B-5910-5EA9-65E45394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DC28F-E40F-6248-1364-EFB13D7DA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C6B84-1DA0-B405-2528-4653A45B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3037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69914-C009-5B71-E137-39D051719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964EF-916A-FB0A-2E5E-D006A78EF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AFCA5-0FF4-A679-EDD3-942B511C1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F9AD8-2E31-EB84-67A4-7DE6F4F32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5F195-0D22-AA6D-C945-428BDA2E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2909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98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9B41BA-2F02-B4CD-15B6-9FAD805CD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B7EA2-2BE7-4C40-F206-ABC1352D9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12574-7154-9514-D62F-4C9886FB7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626D2-4BC0-470F-866D-F33234651D5D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09FE9-819A-3C18-C788-BC7A43BBE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EFA8-D3E3-D7AF-5411-F02CE55FB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FCB4D-95F6-4223-B76D-D5D9A2F17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3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811139"/>
            <a:ext cx="3173234" cy="287139"/>
          </a:xfrm>
          <a:prstGeom prst="roundRect">
            <a:avLst>
              <a:gd name="adj" fmla="val 22118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867793"/>
            <a:ext cx="35560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• INDUSTRY-ORIENTED • 2026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1738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Journey Analytics Dashboard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4229298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Customer Behaviour, Conversion &amp; Revenue Analytics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Krishan Kumar Sharma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Excel · Python/Jupyter · MySQL · Power BI · 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721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End-to-End Solution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457623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workflow is deliberately sequential: data-quality work precedes SQL aggregation, and SQL findings are communicated through Power BI.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234009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2519759"/>
            <a:ext cx="5345673" cy="254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662039"/>
            <a:ext cx="53456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Raw Excel Data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1475" y="3054449"/>
            <a:ext cx="534567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dataset understanding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84448" y="2234009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4448" y="2519759"/>
            <a:ext cx="5345773" cy="254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6184448" y="2662039"/>
            <a:ext cx="53457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Profiling &amp; Cleaning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84448" y="3054449"/>
            <a:ext cx="534577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Python/Jupyter standardization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1475" y="3657501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1475" y="3943251"/>
            <a:ext cx="5345673" cy="254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085530"/>
            <a:ext cx="53456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Analytical Validation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1475" y="4477941"/>
            <a:ext cx="534567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5,982 records confirmed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84448" y="3657501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4448" y="3943251"/>
            <a:ext cx="5345773" cy="254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8" name="Text 16"/>
          <p:cNvSpPr/>
          <p:nvPr/>
        </p:nvSpPr>
        <p:spPr>
          <a:xfrm>
            <a:off x="6184448" y="4085530"/>
            <a:ext cx="53457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MySQL &amp; SQL Analysis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84448" y="4477941"/>
            <a:ext cx="534577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Business-focused queries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475" y="5080992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1475" y="5366742"/>
            <a:ext cx="5345673" cy="254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509022"/>
            <a:ext cx="53456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1475" y="5901432"/>
            <a:ext cx="534567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interactive pages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84448" y="5080992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84448" y="5366742"/>
            <a:ext cx="5345773" cy="2540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6" name="Text 24"/>
          <p:cNvSpPr/>
          <p:nvPr/>
        </p:nvSpPr>
        <p:spPr>
          <a:xfrm>
            <a:off x="6184448" y="5509022"/>
            <a:ext cx="53457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Insights &amp; Recommendations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84448" y="5901432"/>
            <a:ext cx="5345773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support outputs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638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&amp; Data Understanding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92920"/>
            <a:ext cx="6938590" cy="39333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6570" y="2451100"/>
            <a:ext cx="3569901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Session-Oriented Customer Journey Data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66570" y="3027759"/>
            <a:ext cx="3569901" cy="1051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dataset covers customer and visit attributes, demographics, device, traffic source, engagement, product/category information, cart and discount behaviour, purchase status, payment method, and satisfaction feedback.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5485805"/>
            <a:ext cx="3545989" cy="843558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158" y="5652492"/>
            <a:ext cx="3212623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5,982 Records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8158" y="5952331"/>
            <a:ext cx="3212623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into Power BI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2754" y="5485805"/>
            <a:ext cx="3546089" cy="843558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9437" y="5652492"/>
            <a:ext cx="321272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27 Columns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489437" y="5952331"/>
            <a:ext cx="321272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analytical coverage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84132" y="5485805"/>
            <a:ext cx="3545989" cy="843558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50815" y="5652492"/>
            <a:ext cx="3212623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2,274 Purchases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150815" y="5952331"/>
            <a:ext cx="3212623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38.01% conversion rate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5944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Profiling &amp; Cleaning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233360" y="1976338"/>
            <a:ext cx="3059730" cy="2790230"/>
          </a:xfrm>
          <a:prstGeom prst="roundRect">
            <a:avLst>
              <a:gd name="adj" fmla="val 275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2764" y="2165747"/>
            <a:ext cx="268092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22764" y="2558157"/>
            <a:ext cx="2680923" cy="201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Gender (0.7%), City (0.6%), Traffic_Source (0.5%). Review_Rating &amp; Customer_Satisfaction nulls treated as structurally non-applicable for non-purchasing sessions.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70390" y="1976338"/>
            <a:ext cx="3059830" cy="2790230"/>
          </a:xfrm>
          <a:prstGeom prst="roundRect">
            <a:avLst>
              <a:gd name="adj" fmla="val 275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59794" y="2165747"/>
            <a:ext cx="268102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Categorical Standardization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59794" y="2844205"/>
            <a:ext cx="2681022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Product_Category, Gender and City had inconsistent labels (e.g., "fashion" vs "Fashion", "MUMBAI" vs "Mumbai") — consolidated for reliable grouping.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4943872"/>
            <a:ext cx="6296860" cy="1348085"/>
          </a:xfrm>
          <a:prstGeom prst="roundRect">
            <a:avLst>
              <a:gd name="adj" fmla="val 57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2764" y="5133280"/>
            <a:ext cx="59180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Duplicate Handling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22764" y="5525691"/>
            <a:ext cx="59180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Duplicates explicitly checked and removed. Final analytical boundary: 5,982 records × 27 columns confirmed for SQL and Power BI.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5730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MySQL &amp; SQL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35187"/>
            <a:ext cx="108687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validated dataset was imported into MySQL for reproducible business analysis across purchase, conversion, traffic, category, revenue and payment dimensions.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21198"/>
            <a:ext cx="6933530" cy="39304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75996" y="2045494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SQL Findings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75996" y="2425700"/>
          <a:ext cx="3560476" cy="2564145"/>
        </p:xfrm>
        <a:graphic>
          <a:graphicData uri="http://schemas.openxmlformats.org/drawingml/2006/table">
            <a:tbl>
              <a:tblPr/>
              <a:tblGrid>
                <a:gridCol w="178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1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Area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Result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Purchased Sessions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2,274 Yes / 3,708 No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Overall Conversion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38.01%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 Revenue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₹23,454,694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Avg Purchase Value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₹10,314.29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7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Top Payment Method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7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Credit Card (477 purchases)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975996" y="5142905"/>
            <a:ext cx="3560475" cy="968970"/>
          </a:xfrm>
          <a:prstGeom prst="roundRect">
            <a:avLst>
              <a:gd name="adj" fmla="val 6657"/>
            </a:avLst>
          </a:prstGeom>
          <a:solidFill>
            <a:srgbClr val="D6F5E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483" y="5343029"/>
            <a:ext cx="191884" cy="1534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74855" y="5293420"/>
            <a:ext cx="290812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Payment-method output contains two UPI-labelled rows — a residual label inconsistency requiring standardization.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Conversion Analysis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Type Conversion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Returning customers convert at </a:t>
            </a: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43.62%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 </a:t>
            </a: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33.77%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new customers — a </a:t>
            </a: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9.85 percentage-point gap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476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Traffic Source Conversion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3731915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Facebook leads at </a:t>
            </a: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40.42%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followed by Google (38.37%), Email (38.15%), Direct (37.97%), Instagram (37.77%), YouTube (36.74%), and Referral (36.65%). Unknown sources show only 23.33%.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Product Category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Electronics Dominates Revenue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Electronics contributes </a:t>
            </a: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₹12,366,407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roughly </a:t>
            </a: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52.7%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total SQL revenue — with an average purchase value of ₹25,871.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Fashion leads purchase volume at </a:t>
            </a: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572 transactions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but Electronics leads in revenue. Beauty and Books show lower revenue despite competitive conversion rates.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604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Power BI Dashboard — 5 Pages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91345"/>
            <a:ext cx="1131462" cy="6992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84611"/>
            <a:ext cx="2571686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1. Customer Journey Overview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2912864"/>
            <a:ext cx="2571686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KPIs: 2.058K customers, 23M revenue, 38.01% conversion, 5.982K sessions.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128" y="1391345"/>
            <a:ext cx="1131462" cy="6992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7128" y="2284611"/>
            <a:ext cx="2571686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2. Customer Behaviour Analysis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427128" y="3180457"/>
            <a:ext cx="257168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Segmentation by customer type, device, gender and traffic source with session duration.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782" y="1391345"/>
            <a:ext cx="1131462" cy="6992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92782" y="2284611"/>
            <a:ext cx="2571686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3. Purchase Analysis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192782" y="2912864"/>
            <a:ext cx="257168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 trends, payment methods, discount usage and category-level revenue.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8435" y="1391345"/>
            <a:ext cx="1131562" cy="6992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58435" y="2284611"/>
            <a:ext cx="2571785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4. Traffic &amp; Revenue Analysis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8958435" y="2912864"/>
            <a:ext cx="257178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Acquisition channel quality, device-level performance and conversion comparisons.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274641"/>
            <a:ext cx="1131462" cy="6992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167908"/>
            <a:ext cx="257168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5. Key Insights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61475" y="5528568"/>
            <a:ext cx="257168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Decision-oriented summary of conversion, revenue, category and traffic findings.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4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Integrated Business Insights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31156"/>
            <a:ext cx="3496877" cy="23353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84556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Overall Conversion: 38.01%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54952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2,274 purchases across 5,982 sessions — a strong baseline for e-commerce benchmarking.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631156"/>
            <a:ext cx="3496877" cy="2335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1845568"/>
            <a:ext cx="296646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Returning Customers Outperform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84480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43.62% vs 33.77% conversion — a 9.85 pp gap makes retention a high-value lever.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1631156"/>
            <a:ext cx="3496877" cy="23353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1845568"/>
            <a:ext cx="2966467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Facebook Converts, Google Earns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84480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Facebook leads conversion at 40.42%; Google leads revenue at ₹6,081,848.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55480"/>
            <a:ext cx="3496877" cy="20400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369891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Electronics: 52.7% of Revenue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5073848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revenue concentration creates opportunity but also introduces commercial risk.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4155480"/>
            <a:ext cx="3496877" cy="204003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369891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Mobile Dominates Sessions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5073848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70% of sessions on Mobile; Desktop shows highest conversion rate at 40.87%.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Recommendations &amp; 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Recommendations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2340868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33144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returning-customer behaviour as a benchmark for retention initiatives.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3323729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31430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Facebook for conversion efficiency; Google for revenue contribution.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4306590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429716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Electronics revenue concentration risk while sustaining growth.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528945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28002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Strengthen categorical standardization rules in future data pipelines.</a:t>
            </a:r>
            <a:endParaRPr lang="en-US" sz="1450" dirty="0"/>
          </a:p>
        </p:txBody>
      </p:sp>
      <p:sp>
        <p:nvSpPr>
          <p:cNvPr id="12" name="Shape 6"/>
          <p:cNvSpPr/>
          <p:nvPr/>
        </p:nvSpPr>
        <p:spPr>
          <a:xfrm>
            <a:off x="6196651" y="1634530"/>
            <a:ext cx="5476043" cy="4462959"/>
          </a:xfrm>
          <a:prstGeom prst="roundRect">
            <a:avLst>
              <a:gd name="adj" fmla="val 3049"/>
            </a:avLst>
          </a:prstGeom>
          <a:solidFill>
            <a:srgbClr val="1B1B27"/>
          </a:solidFill>
          <a:ln/>
        </p:spPr>
      </p:sp>
      <p:sp>
        <p:nvSpPr>
          <p:cNvPr id="13" name="Text 7"/>
          <p:cNvSpPr/>
          <p:nvPr/>
        </p:nvSpPr>
        <p:spPr>
          <a:xfrm>
            <a:off x="6385658" y="182354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Conclusion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385658" y="2307828"/>
            <a:ext cx="509802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end-to-end analytics project transforms raw customer journey data into validated SQL outputs and an interactive Power BI dashboard — establishing traceability from data quality through to decision support.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Strongest findings:</a:t>
            </a: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38.01% conversion, returning-customer advantage, Facebook conversion leadership, Google revenue leadership, Electronics revenue dominance, Fashion volume leadership.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753</Words>
  <Application>Microsoft Office PowerPoint</Application>
  <PresentationFormat>Widescreen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Unbounded Light</vt:lpstr>
      <vt:lpstr>Arial</vt:lpstr>
      <vt:lpstr>Calibri</vt:lpstr>
      <vt:lpstr>Open Sans</vt:lpstr>
      <vt:lpstr>Unbounded Bold</vt:lpstr>
      <vt:lpstr>Calibri Light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Krishnaaaa</dc:creator>
  <cp:lastModifiedBy>Krishna Sharma</cp:lastModifiedBy>
  <cp:revision>3</cp:revision>
  <dcterms:created xsi:type="dcterms:W3CDTF">2026-09-04T11:47:32Z</dcterms:created>
  <dcterms:modified xsi:type="dcterms:W3CDTF">2026-09-04T11:49:14Z</dcterms:modified>
</cp:coreProperties>
</file>